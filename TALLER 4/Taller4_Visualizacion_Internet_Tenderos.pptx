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[HOLMAN — ~0:15]
Buenas tardes. Somos Holman Ospina, Emily Rodríguez y David Pascagaza, y en los próximos siete minutos les vamos a mostrar qué tan penetrado está el uso de internet entre los tenderos de diez ciudades colombianas, y qué le recomendamos a una empresa que quiere entrar a ese mercado.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[HOLMAN — ~1:55]
El punto de partida es un caso real: una empresa quiere ofrecer servicios digitales a microempresas en Colombia, y antes de invertir necesita saber dos cosas — en qué ciudades hay más tenderos usando internet, y en qué sectores comerciales específicos. Para responder eso usamos la Encuesta a Tenderos FU03 de la Universidad del Rosario, con mil doscientas veintidós tiendas en diez ciudades, y la cruzamos con la población municipal del DANE tomada de TerriData, para el año 2024. Con esa base construimos tres visualizaciones que resumen todo lo que la empresa necesita saber antes de decidir dónde y en qué enfocarse.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[EMILY — ~1:10]
Empecemos por la primera pregunta: ¿en qué ciudades hay mayor penetración de internet? Este gráfico ordena las diez ciudades de mayor a menor. Zipaquirá lidera con casi el 77% de tenderos usando internet para su negocio, seguida de Bucaramanga y Neiva. En el otro extremo está Ibagué, con apenas 47%, treinta puntos por debajo del líder. Bogotá, aunque es la ciudad más grande de la muestra, queda en la mitad de la tabla con 67.7%. Esto ya nos dice algo importante: ser una ciudad grande no garantiza mayor uso de internet entre los tenderos.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[EMILY — ~1:10]
La segunda pregunta es por sector: ¿qué tipo de negocio usa más internet, sin importar la ciudad? Aquí el patrón es mucho más claro que por ciudad. Las papelerías y las peluquerías lideran, con 78.7% y 77.7% respectivamente. En el otro extremo están las tiendas de barrio genéricas, con apenas 38.6%, casi la mitad. Y esto no es un dato menor: las tiendas de barrio son también el grupo más grande de la muestra, con 228 negocios. Es decir, el segmento más numeroso es también el que menos usa internet — ahí hay una oportunidad grande para la empresa.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[DAVID — ~0:50]
La tercera pregunta era si el tamaño de la población de una ciudad explica esta penetración de internet. Cruzamos nuestros datos con la población municipal del DANE, y el resultado es contundente: la correlación es de apenas 0.16, prácticamente nula. Como ven en el gráfico, Zipaquirá, con poco más de cien mil habitantes, supera ampliamente a Bogotá, con casi ocho millones. El tamaño de la ciudad no explica nada; lo que sí importa es el sector económico, como acabamos de 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[DAVID — ~0:40]
En resumen: la geografía sí varía entre ciudades, pero sin un patrón claro; el sector económico es el factor que más diferencia — papelerías y peluquerías casi duplican a las tiendas de barrio; y el tamaño de la población prácticamente no influye.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[DAVID — ~0:50]
¿Qué le recomendamos a la empresa? Priorizar el segmento, no la ciudad: enfocar la oferta comercial en papelerías, peluquerías y salud, que ya tienen alta disposición digital, y diseñar una estrategia de acompañamiento para tiendas de barrio y comida preparada, que son el mercado más grande y el más rezagado. Una salvedad: algunas combinaciones de ciudad y sector tienen muestras muy pequeñas, así que antes de invertir ciudad por ciudad recomendamos ampliar la encuesta. Muchas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3A"/>
        </a:solidFill>
      </p:bgPr>
    </p:bg>
    <p:spTree>
      <p:nvGrpSpPr>
        <p:cNvPr id="1" name=""/>
        <p:cNvGrpSpPr/>
        <p:nvPr/>
      </p:nvGrpSpPr>
      <p:grpSpPr>
        <a:xfrm>
          <a:off x="0" y="0"/>
          <a:ext cx="0" cy="0"/>
          <a:chOff x="0" y="0"/>
          <a:chExt cx="0" cy="0"/>
        </a:xfrm>
      </p:grpSpPr>
      <p:sp>
        <p:nvSpPr>
          <p:cNvPr id="2" name="Shape 0"/>
          <p:cNvSpPr/>
          <p:nvPr/>
        </p:nvSpPr>
        <p:spPr>
          <a:xfrm>
            <a:off x="9418320" y="-2011680"/>
            <a:ext cx="5943600" cy="5943600"/>
          </a:xfrm>
          <a:prstGeom prst="ellipse">
            <a:avLst/>
          </a:prstGeom>
          <a:solidFill>
            <a:srgbClr val="02C39A">
              <a:alpha val="12000"/>
            </a:srgbClr>
          </a:solidFill>
          <a:ln/>
        </p:spPr>
      </p:sp>
      <p:sp>
        <p:nvSpPr>
          <p:cNvPr id="3" name="Shape 1"/>
          <p:cNvSpPr/>
          <p:nvPr/>
        </p:nvSpPr>
        <p:spPr>
          <a:xfrm>
            <a:off x="-1828800" y="4389120"/>
            <a:ext cx="4114800" cy="4114800"/>
          </a:xfrm>
          <a:prstGeom prst="ellipse">
            <a:avLst/>
          </a:prstGeom>
          <a:solidFill>
            <a:srgbClr val="02C39A">
              <a:alpha val="10000"/>
            </a:srgbClr>
          </a:solidFill>
          <a:ln/>
        </p:spPr>
      </p:sp>
      <p:sp>
        <p:nvSpPr>
          <p:cNvPr id="4" name="Text 2"/>
          <p:cNvSpPr/>
          <p:nvPr/>
        </p:nvSpPr>
        <p:spPr>
          <a:xfrm>
            <a:off x="822960" y="1371600"/>
            <a:ext cx="10515600" cy="457200"/>
          </a:xfrm>
          <a:prstGeom prst="rect">
            <a:avLst/>
          </a:prstGeom>
          <a:noFill/>
          <a:ln/>
        </p:spPr>
        <p:txBody>
          <a:bodyPr wrap="square" lIns="0" tIns="0" rIns="0" bIns="0" rtlCol="0" anchor="ctr"/>
          <a:lstStyle/>
          <a:p>
            <a:pPr indent="0" marL="0">
              <a:buNone/>
            </a:pPr>
            <a:r>
              <a:rPr lang="en-US" sz="1400" b="1" spc="200" kern="0" dirty="0">
                <a:solidFill>
                  <a:srgbClr val="02C39A"/>
                </a:solidFill>
                <a:latin typeface="Calibri" pitchFamily="34" charset="0"/>
                <a:ea typeface="Calibri" pitchFamily="34" charset="-122"/>
                <a:cs typeface="Calibri" pitchFamily="34" charset="-120"/>
              </a:rPr>
              <a:t>TALLER 4A  ·  VISUALIZACIÓN DE DATOS</a:t>
            </a:r>
            <a:endParaRPr lang="en-US" sz="1400" dirty="0"/>
          </a:p>
        </p:txBody>
      </p:sp>
      <p:sp>
        <p:nvSpPr>
          <p:cNvPr id="5" name="Text 3"/>
          <p:cNvSpPr/>
          <p:nvPr/>
        </p:nvSpPr>
        <p:spPr>
          <a:xfrm>
            <a:off x="822960" y="1874520"/>
            <a:ext cx="10515600" cy="192024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Calibri" pitchFamily="34" charset="0"/>
                <a:ea typeface="Calibri" pitchFamily="34" charset="-122"/>
                <a:cs typeface="Calibri" pitchFamily="34" charset="-120"/>
              </a:rPr>
              <a:t>Penetración de internet en</a:t>
            </a:r>
            <a:endParaRPr lang="en-US" sz="4200" dirty="0"/>
          </a:p>
          <a:p>
            <a:pPr indent="0" marL="0">
              <a:lnSpc>
                <a:spcPct val="105000"/>
              </a:lnSpc>
              <a:buNone/>
            </a:pPr>
            <a:r>
              <a:rPr lang="en-US" sz="4200" b="1" dirty="0">
                <a:solidFill>
                  <a:srgbClr val="FFFFFF"/>
                </a:solidFill>
                <a:latin typeface="Calibri" pitchFamily="34" charset="0"/>
                <a:ea typeface="Calibri" pitchFamily="34" charset="-122"/>
                <a:cs typeface="Calibri" pitchFamily="34" charset="-120"/>
              </a:rPr>
              <a:t>tenderos colombianos</a:t>
            </a:r>
            <a:endParaRPr lang="en-US" sz="4200" dirty="0"/>
          </a:p>
        </p:txBody>
      </p:sp>
      <p:sp>
        <p:nvSpPr>
          <p:cNvPr id="6" name="Text 4"/>
          <p:cNvSpPr/>
          <p:nvPr/>
        </p:nvSpPr>
        <p:spPr>
          <a:xfrm>
            <a:off x="822960" y="3794760"/>
            <a:ext cx="9601200" cy="457200"/>
          </a:xfrm>
          <a:prstGeom prst="rect">
            <a:avLst/>
          </a:prstGeom>
          <a:noFill/>
          <a:ln/>
        </p:spPr>
        <p:txBody>
          <a:bodyPr wrap="square" lIns="0" tIns="0" rIns="0" bIns="0" rtlCol="0" anchor="ctr"/>
          <a:lstStyle/>
          <a:p>
            <a:pPr indent="0" marL="0">
              <a:buNone/>
            </a:pPr>
            <a:r>
              <a:rPr lang="en-US" sz="1500" dirty="0">
                <a:solidFill>
                  <a:srgbClr val="B6C4C7"/>
                </a:solidFill>
                <a:latin typeface="Calibri" pitchFamily="34" charset="0"/>
                <a:ea typeface="Calibri" pitchFamily="34" charset="-122"/>
                <a:cs typeface="Calibri" pitchFamily="34" charset="-120"/>
              </a:rPr>
              <a:t>Doing Economics — Introducción a la ciencia de datos en ciencias económicas</a:t>
            </a:r>
            <a:endParaRPr lang="en-US" sz="1500" dirty="0"/>
          </a:p>
        </p:txBody>
      </p:sp>
      <p:sp>
        <p:nvSpPr>
          <p:cNvPr id="7" name="Text 5"/>
          <p:cNvSpPr/>
          <p:nvPr/>
        </p:nvSpPr>
        <p:spPr>
          <a:xfrm>
            <a:off x="822960" y="5989320"/>
            <a:ext cx="10515600" cy="457200"/>
          </a:xfrm>
          <a:prstGeom prst="rect">
            <a:avLst/>
          </a:prstGeom>
          <a:noFill/>
          <a:ln/>
        </p:spPr>
        <p:txBody>
          <a:bodyPr wrap="square" lIns="0" tIns="0" rIns="0" bIns="0" rtlCol="0" anchor="ctr"/>
          <a:lstStyle/>
          <a:p>
            <a:pPr indent="0" marL="0">
              <a:buNone/>
            </a:pPr>
            <a:r>
              <a:rPr lang="en-US" sz="1100" dirty="0">
                <a:solidFill>
                  <a:srgbClr val="B6C4C7"/>
                </a:solidFill>
                <a:latin typeface="Calibri" pitchFamily="34" charset="0"/>
                <a:ea typeface="Calibri" pitchFamily="34" charset="-122"/>
                <a:cs typeface="Calibri" pitchFamily="34" charset="-120"/>
              </a:rPr>
              <a:t>HOLMAN CAMILO OSPINA TANGARIFE     ·     EMILY GABRIELA RODRÍGUEZ RODRÍGUEZ     ·     DAVID STEVEN PASCAGAZA RODRÍGUEZ</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881360" cy="822960"/>
          </a:xfrm>
          <a:prstGeom prst="rect">
            <a:avLst/>
          </a:prstGeom>
          <a:noFill/>
          <a:ln/>
        </p:spPr>
        <p:txBody>
          <a:bodyPr wrap="square" lIns="0" tIns="0" rIns="0" bIns="0" rtlCol="0" anchor="ctr"/>
          <a:lstStyle/>
          <a:p>
            <a:pPr indent="0" marL="0">
              <a:buNone/>
            </a:pPr>
            <a:r>
              <a:rPr lang="en-US" sz="3000" b="1" dirty="0">
                <a:solidFill>
                  <a:srgbClr val="2B2B2B"/>
                </a:solidFill>
                <a:latin typeface="Calibri" pitchFamily="34" charset="0"/>
                <a:ea typeface="Calibri" pitchFamily="34" charset="-122"/>
                <a:cs typeface="Calibri" pitchFamily="34" charset="-120"/>
              </a:rPr>
              <a:t>El reto: ¿dónde debería entrar la empresa primero?</a:t>
            </a:r>
            <a:endParaRPr lang="en-US" sz="3000" dirty="0"/>
          </a:p>
        </p:txBody>
      </p:sp>
      <p:sp>
        <p:nvSpPr>
          <p:cNvPr id="3" name="Text 1"/>
          <p:cNvSpPr/>
          <p:nvPr/>
        </p:nvSpPr>
        <p:spPr>
          <a:xfrm>
            <a:off x="640080" y="1600200"/>
            <a:ext cx="6309360" cy="4206240"/>
          </a:xfrm>
          <a:prstGeom prst="rect">
            <a:avLst/>
          </a:prstGeom>
          <a:noFill/>
          <a:ln/>
        </p:spPr>
        <p:txBody>
          <a:bodyPr wrap="square" lIns="0" tIns="0" rIns="0" bIns="0" rtlCol="0" anchor="t"/>
          <a:lstStyle/>
          <a:p>
            <a:pPr marL="342900" indent="-342900">
              <a:lnSpc>
                <a:spcPct val="115000"/>
              </a:lnSpc>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Una empresa quiere ofrecer servicios digitales a microempresas en Colombia.</a:t>
            </a:r>
            <a:endParaRPr lang="en-US" sz="1600" dirty="0"/>
          </a:p>
          <a:p>
            <a:pPr marL="342900" indent="-342900">
              <a:lnSpc>
                <a:spcPct val="115000"/>
              </a:lnSpc>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Antes de invertir necesita saber: ¿en qué ciudades hay más tenderos usando internet, y en qué sectores comerciales?</a:t>
            </a:r>
            <a:endParaRPr lang="en-US" sz="1600" dirty="0"/>
          </a:p>
          <a:p>
            <a:pPr marL="342900" indent="-342900">
              <a:lnSpc>
                <a:spcPct val="115000"/>
              </a:lnSpc>
              <a:spcAft>
                <a:spcPts val="1400"/>
              </a:spcAft>
              <a:buSzPct val="100000"/>
              <a:buChar char="•"/>
            </a:pPr>
            <a:r>
              <a:rPr lang="en-US" sz="1600" dirty="0">
                <a:solidFill>
                  <a:srgbClr val="2B2B2B"/>
                </a:solidFill>
                <a:latin typeface="Calibri" pitchFamily="34" charset="0"/>
                <a:ea typeface="Calibri" pitchFamily="34" charset="-122"/>
                <a:cs typeface="Calibri" pitchFamily="34" charset="-120"/>
              </a:rPr>
              <a:t>Usamos la Encuesta a Tenderos FU03 (Universidad del Rosario) y la cruzamos con población municipal del DANE (TerriData, 2024).</a:t>
            </a:r>
            <a:endParaRPr lang="en-US" sz="1600" dirty="0"/>
          </a:p>
          <a:p>
            <a:pPr marL="342900" indent="-342900">
              <a:lnSpc>
                <a:spcPct val="115000"/>
              </a:lnSpc>
              <a:buSzPct val="100000"/>
              <a:buChar char="•"/>
            </a:pPr>
            <a:r>
              <a:rPr lang="en-US" sz="1600" dirty="0">
                <a:solidFill>
                  <a:srgbClr val="2B2B2B"/>
                </a:solidFill>
                <a:latin typeface="Calibri" pitchFamily="34" charset="0"/>
                <a:ea typeface="Calibri" pitchFamily="34" charset="-122"/>
                <a:cs typeface="Calibri" pitchFamily="34" charset="-120"/>
              </a:rPr>
              <a:t>Con esa base construimos las 3 visualizaciones clave que verán a continuación.</a:t>
            </a:r>
            <a:endParaRPr lang="en-US" sz="1600" dirty="0"/>
          </a:p>
        </p:txBody>
      </p:sp>
      <p:sp>
        <p:nvSpPr>
          <p:cNvPr id="4" name="Shape 2"/>
          <p:cNvSpPr/>
          <p:nvPr/>
        </p:nvSpPr>
        <p:spPr>
          <a:xfrm>
            <a:off x="7315200" y="1600200"/>
            <a:ext cx="4206240" cy="1188720"/>
          </a:xfrm>
          <a:prstGeom prst="roundRect">
            <a:avLst>
              <a:gd name="adj" fmla="val 7692"/>
            </a:avLst>
          </a:prstGeom>
          <a:solidFill>
            <a:srgbClr val="F2F6F5"/>
          </a:solidFill>
          <a:ln/>
        </p:spPr>
      </p:sp>
      <p:sp>
        <p:nvSpPr>
          <p:cNvPr id="5" name="Text 3"/>
          <p:cNvSpPr/>
          <p:nvPr/>
        </p:nvSpPr>
        <p:spPr>
          <a:xfrm>
            <a:off x="7635240" y="1709928"/>
            <a:ext cx="3566160" cy="640080"/>
          </a:xfrm>
          <a:prstGeom prst="rect">
            <a:avLst/>
          </a:prstGeom>
          <a:noFill/>
          <a:ln/>
        </p:spPr>
        <p:txBody>
          <a:bodyPr wrap="square" lIns="0" tIns="0" rIns="0" bIns="0" rtlCol="0" anchor="ctr"/>
          <a:lstStyle/>
          <a:p>
            <a:pPr indent="0" marL="0">
              <a:buNone/>
            </a:pPr>
            <a:r>
              <a:rPr lang="en-US" sz="3400" b="1" dirty="0">
                <a:solidFill>
                  <a:srgbClr val="02C39A"/>
                </a:solidFill>
                <a:latin typeface="Calibri" pitchFamily="34" charset="0"/>
                <a:ea typeface="Calibri" pitchFamily="34" charset="-122"/>
                <a:cs typeface="Calibri" pitchFamily="34" charset="-120"/>
              </a:rPr>
              <a:t>1.222</a:t>
            </a:r>
            <a:endParaRPr lang="en-US" sz="3400" dirty="0"/>
          </a:p>
        </p:txBody>
      </p:sp>
      <p:sp>
        <p:nvSpPr>
          <p:cNvPr id="6" name="Text 4"/>
          <p:cNvSpPr/>
          <p:nvPr/>
        </p:nvSpPr>
        <p:spPr>
          <a:xfrm>
            <a:off x="7635240" y="2350008"/>
            <a:ext cx="3566160" cy="320040"/>
          </a:xfrm>
          <a:prstGeom prst="rect">
            <a:avLst/>
          </a:prstGeom>
          <a:noFill/>
          <a:ln/>
        </p:spPr>
        <p:txBody>
          <a:bodyPr wrap="square" lIns="0" tIns="0" rIns="0" bIns="0" rtlCol="0" anchor="ctr"/>
          <a:lstStyle/>
          <a:p>
            <a:pPr indent="0" marL="0">
              <a:buNone/>
            </a:pPr>
            <a:r>
              <a:rPr lang="en-US" sz="1100" spc="100" kern="0" dirty="0">
                <a:solidFill>
                  <a:srgbClr val="5C6B6E"/>
                </a:solidFill>
                <a:latin typeface="Calibri" pitchFamily="34" charset="0"/>
                <a:ea typeface="Calibri" pitchFamily="34" charset="-122"/>
                <a:cs typeface="Calibri" pitchFamily="34" charset="-120"/>
              </a:rPr>
              <a:t>TIENDAS ENCUESTADAS</a:t>
            </a:r>
            <a:endParaRPr lang="en-US" sz="1100" dirty="0"/>
          </a:p>
        </p:txBody>
      </p:sp>
      <p:sp>
        <p:nvSpPr>
          <p:cNvPr id="7" name="Shape 5"/>
          <p:cNvSpPr/>
          <p:nvPr/>
        </p:nvSpPr>
        <p:spPr>
          <a:xfrm>
            <a:off x="7315200" y="3017520"/>
            <a:ext cx="4206240" cy="1188720"/>
          </a:xfrm>
          <a:prstGeom prst="roundRect">
            <a:avLst>
              <a:gd name="adj" fmla="val 7692"/>
            </a:avLst>
          </a:prstGeom>
          <a:solidFill>
            <a:srgbClr val="F2F6F5"/>
          </a:solidFill>
          <a:ln/>
        </p:spPr>
      </p:sp>
      <p:sp>
        <p:nvSpPr>
          <p:cNvPr id="8" name="Text 6"/>
          <p:cNvSpPr/>
          <p:nvPr/>
        </p:nvSpPr>
        <p:spPr>
          <a:xfrm>
            <a:off x="7635240" y="3127248"/>
            <a:ext cx="3566160" cy="640080"/>
          </a:xfrm>
          <a:prstGeom prst="rect">
            <a:avLst/>
          </a:prstGeom>
          <a:noFill/>
          <a:ln/>
        </p:spPr>
        <p:txBody>
          <a:bodyPr wrap="square" lIns="0" tIns="0" rIns="0" bIns="0" rtlCol="0" anchor="ctr"/>
          <a:lstStyle/>
          <a:p>
            <a:pPr indent="0" marL="0">
              <a:buNone/>
            </a:pPr>
            <a:r>
              <a:rPr lang="en-US" sz="3400" b="1" dirty="0">
                <a:solidFill>
                  <a:srgbClr val="02C39A"/>
                </a:solidFill>
                <a:latin typeface="Calibri" pitchFamily="34" charset="0"/>
                <a:ea typeface="Calibri" pitchFamily="34" charset="-122"/>
                <a:cs typeface="Calibri" pitchFamily="34" charset="-120"/>
              </a:rPr>
              <a:t>10</a:t>
            </a:r>
            <a:endParaRPr lang="en-US" sz="3400" dirty="0"/>
          </a:p>
        </p:txBody>
      </p:sp>
      <p:sp>
        <p:nvSpPr>
          <p:cNvPr id="9" name="Text 7"/>
          <p:cNvSpPr/>
          <p:nvPr/>
        </p:nvSpPr>
        <p:spPr>
          <a:xfrm>
            <a:off x="7635240" y="3767328"/>
            <a:ext cx="3566160" cy="320040"/>
          </a:xfrm>
          <a:prstGeom prst="rect">
            <a:avLst/>
          </a:prstGeom>
          <a:noFill/>
          <a:ln/>
        </p:spPr>
        <p:txBody>
          <a:bodyPr wrap="square" lIns="0" tIns="0" rIns="0" bIns="0" rtlCol="0" anchor="ctr"/>
          <a:lstStyle/>
          <a:p>
            <a:pPr indent="0" marL="0">
              <a:buNone/>
            </a:pPr>
            <a:r>
              <a:rPr lang="en-US" sz="1100" spc="100" kern="0" dirty="0">
                <a:solidFill>
                  <a:srgbClr val="5C6B6E"/>
                </a:solidFill>
                <a:latin typeface="Calibri" pitchFamily="34" charset="0"/>
                <a:ea typeface="Calibri" pitchFamily="34" charset="-122"/>
                <a:cs typeface="Calibri" pitchFamily="34" charset="-120"/>
              </a:rPr>
              <a:t>CIUDADES</a:t>
            </a:r>
            <a:endParaRPr lang="en-US" sz="1100" dirty="0"/>
          </a:p>
        </p:txBody>
      </p:sp>
      <p:sp>
        <p:nvSpPr>
          <p:cNvPr id="10" name="Shape 8"/>
          <p:cNvSpPr/>
          <p:nvPr/>
        </p:nvSpPr>
        <p:spPr>
          <a:xfrm>
            <a:off x="7315200" y="4434840"/>
            <a:ext cx="4206240" cy="1188720"/>
          </a:xfrm>
          <a:prstGeom prst="roundRect">
            <a:avLst>
              <a:gd name="adj" fmla="val 7692"/>
            </a:avLst>
          </a:prstGeom>
          <a:solidFill>
            <a:srgbClr val="F2F6F5"/>
          </a:solidFill>
          <a:ln/>
        </p:spPr>
      </p:sp>
      <p:sp>
        <p:nvSpPr>
          <p:cNvPr id="11" name="Text 9"/>
          <p:cNvSpPr/>
          <p:nvPr/>
        </p:nvSpPr>
        <p:spPr>
          <a:xfrm>
            <a:off x="7635240" y="4544568"/>
            <a:ext cx="3566160" cy="640080"/>
          </a:xfrm>
          <a:prstGeom prst="rect">
            <a:avLst/>
          </a:prstGeom>
          <a:noFill/>
          <a:ln/>
        </p:spPr>
        <p:txBody>
          <a:bodyPr wrap="square" lIns="0" tIns="0" rIns="0" bIns="0" rtlCol="0" anchor="ctr"/>
          <a:lstStyle/>
          <a:p>
            <a:pPr indent="0" marL="0">
              <a:buNone/>
            </a:pPr>
            <a:r>
              <a:rPr lang="en-US" sz="3400" b="1" dirty="0">
                <a:solidFill>
                  <a:srgbClr val="02C39A"/>
                </a:solidFill>
                <a:latin typeface="Calibri" pitchFamily="34" charset="0"/>
                <a:ea typeface="Calibri" pitchFamily="34" charset="-122"/>
                <a:cs typeface="Calibri" pitchFamily="34" charset="-120"/>
              </a:rPr>
              <a:t>11</a:t>
            </a:r>
            <a:endParaRPr lang="en-US" sz="3400" dirty="0"/>
          </a:p>
        </p:txBody>
      </p:sp>
      <p:sp>
        <p:nvSpPr>
          <p:cNvPr id="12" name="Text 10"/>
          <p:cNvSpPr/>
          <p:nvPr/>
        </p:nvSpPr>
        <p:spPr>
          <a:xfrm>
            <a:off x="7635240" y="5184648"/>
            <a:ext cx="3566160" cy="320040"/>
          </a:xfrm>
          <a:prstGeom prst="rect">
            <a:avLst/>
          </a:prstGeom>
          <a:noFill/>
          <a:ln/>
        </p:spPr>
        <p:txBody>
          <a:bodyPr wrap="square" lIns="0" tIns="0" rIns="0" bIns="0" rtlCol="0" anchor="ctr"/>
          <a:lstStyle/>
          <a:p>
            <a:pPr indent="0" marL="0">
              <a:buNone/>
            </a:pPr>
            <a:r>
              <a:rPr lang="en-US" sz="1100" spc="100" kern="0" dirty="0">
                <a:solidFill>
                  <a:srgbClr val="5C6B6E"/>
                </a:solidFill>
                <a:latin typeface="Calibri" pitchFamily="34" charset="0"/>
                <a:ea typeface="Calibri" pitchFamily="34" charset="-122"/>
                <a:cs typeface="Calibri" pitchFamily="34" charset="-120"/>
              </a:rPr>
              <a:t>SECTORES ECONÓMICOS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02920" cy="502920"/>
          </a:xfrm>
          <a:prstGeom prst="ellipse">
            <a:avLst/>
          </a:prstGeom>
          <a:solidFill>
            <a:srgbClr val="02C39A"/>
          </a:solidFill>
          <a:ln/>
        </p:spPr>
      </p:sp>
      <p:sp>
        <p:nvSpPr>
          <p:cNvPr id="3" name="Text 1"/>
          <p:cNvSpPr/>
          <p:nvPr/>
        </p:nvSpPr>
        <p:spPr>
          <a:xfrm>
            <a:off x="640080" y="5029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4" name="Text 2"/>
          <p:cNvSpPr/>
          <p:nvPr/>
        </p:nvSpPr>
        <p:spPr>
          <a:xfrm>
            <a:off x="1325880" y="502920"/>
            <a:ext cx="8229600" cy="502920"/>
          </a:xfrm>
          <a:prstGeom prst="rect">
            <a:avLst/>
          </a:prstGeom>
          <a:noFill/>
          <a:ln/>
        </p:spPr>
        <p:txBody>
          <a:bodyPr wrap="square" lIns="0" tIns="0" rIns="0" bIns="0" rtlCol="0" anchor="ctr"/>
          <a:lstStyle/>
          <a:p>
            <a:pPr indent="0" marL="0">
              <a:buNone/>
            </a:pPr>
            <a:r>
              <a:rPr lang="en-US" sz="1500" b="1" dirty="0">
                <a:solidFill>
                  <a:srgbClr val="2B2B2B"/>
                </a:solidFill>
                <a:latin typeface="Calibri" pitchFamily="34" charset="0"/>
                <a:ea typeface="Calibri" pitchFamily="34" charset="-122"/>
                <a:cs typeface="Calibri" pitchFamily="34" charset="-120"/>
              </a:rPr>
              <a:t>GRÁFICO CLAVE · PENETRACIÓN POR CIUDAD</a:t>
            </a:r>
            <a:endParaRPr lang="en-US" sz="1500" dirty="0"/>
          </a:p>
        </p:txBody>
      </p:sp>
      <p:pic>
        <p:nvPicPr>
          <p:cNvPr id="5" name="Image 0" descr="img/grafico_ciudad.png">    </p:cNvPr>
          <p:cNvPicPr>
            <a:picLocks noChangeAspect="1"/>
          </p:cNvPicPr>
          <p:nvPr/>
        </p:nvPicPr>
        <p:blipFill>
          <a:blip r:embed="rId1"/>
          <a:stretch>
            <a:fillRect/>
          </a:stretch>
        </p:blipFill>
        <p:spPr>
          <a:xfrm>
            <a:off x="1888236" y="1417320"/>
            <a:ext cx="8412480" cy="4673600"/>
          </a:xfrm>
          <a:prstGeom prst="rect">
            <a:avLst/>
          </a:prstGeom>
        </p:spPr>
      </p:pic>
      <p:sp>
        <p:nvSpPr>
          <p:cNvPr id="6" name="Text 3"/>
          <p:cNvSpPr/>
          <p:nvPr/>
        </p:nvSpPr>
        <p:spPr>
          <a:xfrm>
            <a:off x="1293876" y="6200648"/>
            <a:ext cx="9601200" cy="502920"/>
          </a:xfrm>
          <a:prstGeom prst="rect">
            <a:avLst/>
          </a:prstGeom>
          <a:noFill/>
          <a:ln/>
        </p:spPr>
        <p:txBody>
          <a:bodyPr wrap="square" lIns="0" tIns="0" rIns="0" bIns="0" rtlCol="0" anchor="ctr"/>
          <a:lstStyle/>
          <a:p>
            <a:pPr algn="ctr" indent="0" marL="0">
              <a:buNone/>
            </a:pPr>
            <a:r>
              <a:rPr lang="en-US" sz="1450" i="1" dirty="0">
                <a:solidFill>
                  <a:srgbClr val="5C6B6E"/>
                </a:solidFill>
                <a:latin typeface="Calibri" pitchFamily="34" charset="0"/>
                <a:ea typeface="Calibri" pitchFamily="34" charset="-122"/>
                <a:cs typeface="Calibri" pitchFamily="34" charset="-120"/>
              </a:rPr>
              <a:t>→ Ser una ciudad grande no garantiza mayor uso de internet entre los tenderos.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02920" cy="502920"/>
          </a:xfrm>
          <a:prstGeom prst="ellipse">
            <a:avLst/>
          </a:prstGeom>
          <a:solidFill>
            <a:srgbClr val="02C39A"/>
          </a:solidFill>
          <a:ln/>
        </p:spPr>
      </p:sp>
      <p:sp>
        <p:nvSpPr>
          <p:cNvPr id="3" name="Text 1"/>
          <p:cNvSpPr/>
          <p:nvPr/>
        </p:nvSpPr>
        <p:spPr>
          <a:xfrm>
            <a:off x="640080" y="5029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4" name="Text 2"/>
          <p:cNvSpPr/>
          <p:nvPr/>
        </p:nvSpPr>
        <p:spPr>
          <a:xfrm>
            <a:off x="1325880" y="502920"/>
            <a:ext cx="8229600" cy="502920"/>
          </a:xfrm>
          <a:prstGeom prst="rect">
            <a:avLst/>
          </a:prstGeom>
          <a:noFill/>
          <a:ln/>
        </p:spPr>
        <p:txBody>
          <a:bodyPr wrap="square" lIns="0" tIns="0" rIns="0" bIns="0" rtlCol="0" anchor="ctr"/>
          <a:lstStyle/>
          <a:p>
            <a:pPr indent="0" marL="0">
              <a:buNone/>
            </a:pPr>
            <a:r>
              <a:rPr lang="en-US" sz="1500" b="1" dirty="0">
                <a:solidFill>
                  <a:srgbClr val="2B2B2B"/>
                </a:solidFill>
                <a:latin typeface="Calibri" pitchFamily="34" charset="0"/>
                <a:ea typeface="Calibri" pitchFamily="34" charset="-122"/>
                <a:cs typeface="Calibri" pitchFamily="34" charset="-120"/>
              </a:rPr>
              <a:t>GRÁFICO CLAVE · PENETRACIÓN POR ACTIVIDAD ECONÓMICA</a:t>
            </a:r>
            <a:endParaRPr lang="en-US" sz="1500" dirty="0"/>
          </a:p>
        </p:txBody>
      </p:sp>
      <p:pic>
        <p:nvPicPr>
          <p:cNvPr id="5" name="Image 0" descr="img/grafico_actividad.png">    </p:cNvPr>
          <p:cNvPicPr>
            <a:picLocks noChangeAspect="1"/>
          </p:cNvPicPr>
          <p:nvPr/>
        </p:nvPicPr>
        <p:blipFill>
          <a:blip r:embed="rId1"/>
          <a:stretch>
            <a:fillRect/>
          </a:stretch>
        </p:blipFill>
        <p:spPr>
          <a:xfrm>
            <a:off x="1888236" y="1417320"/>
            <a:ext cx="8412480" cy="4673600"/>
          </a:xfrm>
          <a:prstGeom prst="rect">
            <a:avLst/>
          </a:prstGeom>
        </p:spPr>
      </p:pic>
      <p:sp>
        <p:nvSpPr>
          <p:cNvPr id="6" name="Text 3"/>
          <p:cNvSpPr/>
          <p:nvPr/>
        </p:nvSpPr>
        <p:spPr>
          <a:xfrm>
            <a:off x="1293876" y="6200648"/>
            <a:ext cx="9601200" cy="502920"/>
          </a:xfrm>
          <a:prstGeom prst="rect">
            <a:avLst/>
          </a:prstGeom>
          <a:noFill/>
          <a:ln/>
        </p:spPr>
        <p:txBody>
          <a:bodyPr wrap="square" lIns="0" tIns="0" rIns="0" bIns="0" rtlCol="0" anchor="ctr"/>
          <a:lstStyle/>
          <a:p>
            <a:pPr algn="ctr" indent="0" marL="0">
              <a:buNone/>
            </a:pPr>
            <a:r>
              <a:rPr lang="en-US" sz="1450" i="1" dirty="0">
                <a:solidFill>
                  <a:srgbClr val="5C6B6E"/>
                </a:solidFill>
                <a:latin typeface="Calibri" pitchFamily="34" charset="0"/>
                <a:ea typeface="Calibri" pitchFamily="34" charset="-122"/>
                <a:cs typeface="Calibri" pitchFamily="34" charset="-120"/>
              </a:rPr>
              <a:t>→ El segmento más numeroso (tiendas de barrio) es también el que menos usa internet.</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502920" cy="502920"/>
          </a:xfrm>
          <a:prstGeom prst="ellipse">
            <a:avLst/>
          </a:prstGeom>
          <a:solidFill>
            <a:srgbClr val="02C39A"/>
          </a:solidFill>
          <a:ln/>
        </p:spPr>
      </p:sp>
      <p:sp>
        <p:nvSpPr>
          <p:cNvPr id="3" name="Text 1"/>
          <p:cNvSpPr/>
          <p:nvPr/>
        </p:nvSpPr>
        <p:spPr>
          <a:xfrm>
            <a:off x="640080" y="5029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4" name="Text 2"/>
          <p:cNvSpPr/>
          <p:nvPr/>
        </p:nvSpPr>
        <p:spPr>
          <a:xfrm>
            <a:off x="1325880" y="502920"/>
            <a:ext cx="8229600" cy="502920"/>
          </a:xfrm>
          <a:prstGeom prst="rect">
            <a:avLst/>
          </a:prstGeom>
          <a:noFill/>
          <a:ln/>
        </p:spPr>
        <p:txBody>
          <a:bodyPr wrap="square" lIns="0" tIns="0" rIns="0" bIns="0" rtlCol="0" anchor="ctr"/>
          <a:lstStyle/>
          <a:p>
            <a:pPr indent="0" marL="0">
              <a:buNone/>
            </a:pPr>
            <a:r>
              <a:rPr lang="en-US" sz="1500" b="1" dirty="0">
                <a:solidFill>
                  <a:srgbClr val="2B2B2B"/>
                </a:solidFill>
                <a:latin typeface="Calibri" pitchFamily="34" charset="0"/>
                <a:ea typeface="Calibri" pitchFamily="34" charset="-122"/>
                <a:cs typeface="Calibri" pitchFamily="34" charset="-120"/>
              </a:rPr>
              <a:t>GRÁFICO CLAVE · INTERNET VS. POBLACIÓN MUNICIPAL</a:t>
            </a:r>
            <a:endParaRPr lang="en-US" sz="1500" dirty="0"/>
          </a:p>
        </p:txBody>
      </p:sp>
      <p:pic>
        <p:nvPicPr>
          <p:cNvPr id="5" name="Image 0" descr="img/grafico_poblacion.png">    </p:cNvPr>
          <p:cNvPicPr>
            <a:picLocks noChangeAspect="1"/>
          </p:cNvPicPr>
          <p:nvPr/>
        </p:nvPicPr>
        <p:blipFill>
          <a:blip r:embed="rId1"/>
          <a:stretch>
            <a:fillRect/>
          </a:stretch>
        </p:blipFill>
        <p:spPr>
          <a:xfrm>
            <a:off x="1888236" y="1417320"/>
            <a:ext cx="8412480" cy="4673600"/>
          </a:xfrm>
          <a:prstGeom prst="rect">
            <a:avLst/>
          </a:prstGeom>
        </p:spPr>
      </p:pic>
      <p:sp>
        <p:nvSpPr>
          <p:cNvPr id="6" name="Text 3"/>
          <p:cNvSpPr/>
          <p:nvPr/>
        </p:nvSpPr>
        <p:spPr>
          <a:xfrm>
            <a:off x="1293876" y="6200648"/>
            <a:ext cx="9601200" cy="502920"/>
          </a:xfrm>
          <a:prstGeom prst="rect">
            <a:avLst/>
          </a:prstGeom>
          <a:noFill/>
          <a:ln/>
        </p:spPr>
        <p:txBody>
          <a:bodyPr wrap="square" lIns="0" tIns="0" rIns="0" bIns="0" rtlCol="0" anchor="ctr"/>
          <a:lstStyle/>
          <a:p>
            <a:pPr algn="ctr" indent="0" marL="0">
              <a:buNone/>
            </a:pPr>
            <a:r>
              <a:rPr lang="en-US" sz="1450" i="1" dirty="0">
                <a:solidFill>
                  <a:srgbClr val="5C6B6E"/>
                </a:solidFill>
                <a:latin typeface="Calibri" pitchFamily="34" charset="0"/>
                <a:ea typeface="Calibri" pitchFamily="34" charset="-122"/>
                <a:cs typeface="Calibri" pitchFamily="34" charset="-120"/>
              </a:rPr>
              <a:t>→ Correlación de apenas 0.16: el tamaño de la ciudad casi no explica la penetración de internet.</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502920"/>
            <a:ext cx="10881360" cy="731520"/>
          </a:xfrm>
          <a:prstGeom prst="rect">
            <a:avLst/>
          </a:prstGeom>
          <a:noFill/>
          <a:ln/>
        </p:spPr>
        <p:txBody>
          <a:bodyPr wrap="square" lIns="0" tIns="0" rIns="0" bIns="0" rtlCol="0" anchor="ctr"/>
          <a:lstStyle/>
          <a:p>
            <a:pPr indent="0" marL="0">
              <a:buNone/>
            </a:pPr>
            <a:r>
              <a:rPr lang="en-US" sz="3000" b="1" dirty="0">
                <a:solidFill>
                  <a:srgbClr val="2B2B2B"/>
                </a:solidFill>
                <a:latin typeface="Calibri" pitchFamily="34" charset="0"/>
                <a:ea typeface="Calibri" pitchFamily="34" charset="-122"/>
                <a:cs typeface="Calibri" pitchFamily="34" charset="-120"/>
              </a:rPr>
              <a:t>Tres hallazgos, una historia</a:t>
            </a:r>
            <a:endParaRPr lang="en-US" sz="3000" dirty="0"/>
          </a:p>
        </p:txBody>
      </p:sp>
      <p:sp>
        <p:nvSpPr>
          <p:cNvPr id="3" name="Shape 1"/>
          <p:cNvSpPr/>
          <p:nvPr/>
        </p:nvSpPr>
        <p:spPr>
          <a:xfrm>
            <a:off x="640080" y="1600200"/>
            <a:ext cx="3456432" cy="4206240"/>
          </a:xfrm>
          <a:prstGeom prst="roundRect">
            <a:avLst>
              <a:gd name="adj" fmla="val 3175"/>
            </a:avLst>
          </a:prstGeom>
          <a:solidFill>
            <a:srgbClr val="F2F6F5"/>
          </a:solidFill>
          <a:ln/>
        </p:spPr>
      </p:sp>
      <p:sp>
        <p:nvSpPr>
          <p:cNvPr id="4" name="Shape 2"/>
          <p:cNvSpPr/>
          <p:nvPr/>
        </p:nvSpPr>
        <p:spPr>
          <a:xfrm>
            <a:off x="914400" y="1874520"/>
            <a:ext cx="502920" cy="502920"/>
          </a:xfrm>
          <a:prstGeom prst="ellipse">
            <a:avLst/>
          </a:prstGeom>
          <a:solidFill>
            <a:srgbClr val="02C39A"/>
          </a:solidFill>
          <a:ln/>
        </p:spPr>
      </p:sp>
      <p:sp>
        <p:nvSpPr>
          <p:cNvPr id="5" name="Text 3"/>
          <p:cNvSpPr/>
          <p:nvPr/>
        </p:nvSpPr>
        <p:spPr>
          <a:xfrm>
            <a:off x="914400" y="18745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Text 4"/>
          <p:cNvSpPr/>
          <p:nvPr/>
        </p:nvSpPr>
        <p:spPr>
          <a:xfrm>
            <a:off x="914400" y="2560320"/>
            <a:ext cx="2907792" cy="777240"/>
          </a:xfrm>
          <a:prstGeom prst="rect">
            <a:avLst/>
          </a:prstGeom>
          <a:noFill/>
          <a:ln/>
        </p:spPr>
        <p:txBody>
          <a:bodyPr wrap="square" lIns="0" tIns="0" rIns="0" bIns="0" rtlCol="0" anchor="t"/>
          <a:lstStyle/>
          <a:p>
            <a:pPr indent="0" marL="0">
              <a:buNone/>
            </a:pPr>
            <a:r>
              <a:rPr lang="en-US" sz="1700" b="1" dirty="0">
                <a:solidFill>
                  <a:srgbClr val="2B2B2B"/>
                </a:solidFill>
                <a:latin typeface="Calibri" pitchFamily="34" charset="0"/>
                <a:ea typeface="Calibri" pitchFamily="34" charset="-122"/>
                <a:cs typeface="Calibri" pitchFamily="34" charset="-120"/>
              </a:rPr>
              <a:t>La geografía sí varía…</a:t>
            </a:r>
            <a:endParaRPr lang="en-US" sz="1700" dirty="0"/>
          </a:p>
        </p:txBody>
      </p:sp>
      <p:sp>
        <p:nvSpPr>
          <p:cNvPr id="7" name="Text 5"/>
          <p:cNvSpPr/>
          <p:nvPr/>
        </p:nvSpPr>
        <p:spPr>
          <a:xfrm>
            <a:off x="914400" y="3383280"/>
            <a:ext cx="2907792" cy="2194560"/>
          </a:xfrm>
          <a:prstGeom prst="rect">
            <a:avLst/>
          </a:prstGeom>
          <a:noFill/>
          <a:ln/>
        </p:spPr>
        <p:txBody>
          <a:bodyPr wrap="square" lIns="0" tIns="0" rIns="0" bIns="0" rtlCol="0" anchor="t"/>
          <a:lstStyle/>
          <a:p>
            <a:pPr indent="0" marL="0">
              <a:lnSpc>
                <a:spcPct val="120000"/>
              </a:lnSpc>
              <a:buNone/>
            </a:pPr>
            <a:r>
              <a:rPr lang="en-US" sz="1350" dirty="0">
                <a:solidFill>
                  <a:srgbClr val="5C6B6E"/>
                </a:solidFill>
                <a:latin typeface="Calibri" pitchFamily="34" charset="0"/>
                <a:ea typeface="Calibri" pitchFamily="34" charset="-122"/>
                <a:cs typeface="Calibri" pitchFamily="34" charset="-120"/>
              </a:rPr>
              <a:t>Zipaquirá (76.8%) casi duplica a Ibagué (47.1%). Pero no hay un patrón regional claro entre las 10 ciudades.</a:t>
            </a:r>
            <a:endParaRPr lang="en-US" sz="1350" dirty="0"/>
          </a:p>
        </p:txBody>
      </p:sp>
      <p:sp>
        <p:nvSpPr>
          <p:cNvPr id="8" name="Shape 6"/>
          <p:cNvSpPr/>
          <p:nvPr/>
        </p:nvSpPr>
        <p:spPr>
          <a:xfrm>
            <a:off x="4361688" y="1600200"/>
            <a:ext cx="3456432" cy="4206240"/>
          </a:xfrm>
          <a:prstGeom prst="roundRect">
            <a:avLst>
              <a:gd name="adj" fmla="val 3175"/>
            </a:avLst>
          </a:prstGeom>
          <a:solidFill>
            <a:srgbClr val="F2F6F5"/>
          </a:solidFill>
          <a:ln/>
        </p:spPr>
      </p:sp>
      <p:sp>
        <p:nvSpPr>
          <p:cNvPr id="9" name="Shape 7"/>
          <p:cNvSpPr/>
          <p:nvPr/>
        </p:nvSpPr>
        <p:spPr>
          <a:xfrm>
            <a:off x="4636008" y="1874520"/>
            <a:ext cx="502920" cy="502920"/>
          </a:xfrm>
          <a:prstGeom prst="ellipse">
            <a:avLst/>
          </a:prstGeom>
          <a:solidFill>
            <a:srgbClr val="02C39A"/>
          </a:solidFill>
          <a:ln/>
        </p:spPr>
      </p:sp>
      <p:sp>
        <p:nvSpPr>
          <p:cNvPr id="10" name="Text 8"/>
          <p:cNvSpPr/>
          <p:nvPr/>
        </p:nvSpPr>
        <p:spPr>
          <a:xfrm>
            <a:off x="4636008" y="18745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Text 9"/>
          <p:cNvSpPr/>
          <p:nvPr/>
        </p:nvSpPr>
        <p:spPr>
          <a:xfrm>
            <a:off x="4636008" y="2560320"/>
            <a:ext cx="2907792" cy="777240"/>
          </a:xfrm>
          <a:prstGeom prst="rect">
            <a:avLst/>
          </a:prstGeom>
          <a:noFill/>
          <a:ln/>
        </p:spPr>
        <p:txBody>
          <a:bodyPr wrap="square" lIns="0" tIns="0" rIns="0" bIns="0" rtlCol="0" anchor="t"/>
          <a:lstStyle/>
          <a:p>
            <a:pPr indent="0" marL="0">
              <a:buNone/>
            </a:pPr>
            <a:r>
              <a:rPr lang="en-US" sz="1700" b="1" dirty="0">
                <a:solidFill>
                  <a:srgbClr val="2B2B2B"/>
                </a:solidFill>
                <a:latin typeface="Calibri" pitchFamily="34" charset="0"/>
                <a:ea typeface="Calibri" pitchFamily="34" charset="-122"/>
                <a:cs typeface="Calibri" pitchFamily="34" charset="-120"/>
              </a:rPr>
              <a:t>…pero el sector pesa más</a:t>
            </a:r>
            <a:endParaRPr lang="en-US" sz="1700" dirty="0"/>
          </a:p>
        </p:txBody>
      </p:sp>
      <p:sp>
        <p:nvSpPr>
          <p:cNvPr id="12" name="Text 10"/>
          <p:cNvSpPr/>
          <p:nvPr/>
        </p:nvSpPr>
        <p:spPr>
          <a:xfrm>
            <a:off x="4636008" y="3383280"/>
            <a:ext cx="2907792" cy="2194560"/>
          </a:xfrm>
          <a:prstGeom prst="rect">
            <a:avLst/>
          </a:prstGeom>
          <a:noFill/>
          <a:ln/>
        </p:spPr>
        <p:txBody>
          <a:bodyPr wrap="square" lIns="0" tIns="0" rIns="0" bIns="0" rtlCol="0" anchor="t"/>
          <a:lstStyle/>
          <a:p>
            <a:pPr indent="0" marL="0">
              <a:lnSpc>
                <a:spcPct val="120000"/>
              </a:lnSpc>
              <a:buNone/>
            </a:pPr>
            <a:r>
              <a:rPr lang="en-US" sz="1350" dirty="0">
                <a:solidFill>
                  <a:srgbClr val="5C6B6E"/>
                </a:solidFill>
                <a:latin typeface="Calibri" pitchFamily="34" charset="0"/>
                <a:ea typeface="Calibri" pitchFamily="34" charset="-122"/>
                <a:cs typeface="Calibri" pitchFamily="34" charset="-120"/>
              </a:rPr>
              <a:t>Papelerías y peluquerías (~78%) casi duplican a las tiendas de barrio genéricas (38.6%), el segmento más grande de la muestra.</a:t>
            </a:r>
            <a:endParaRPr lang="en-US" sz="1350" dirty="0"/>
          </a:p>
        </p:txBody>
      </p:sp>
      <p:sp>
        <p:nvSpPr>
          <p:cNvPr id="13" name="Shape 11"/>
          <p:cNvSpPr/>
          <p:nvPr/>
        </p:nvSpPr>
        <p:spPr>
          <a:xfrm>
            <a:off x="8083296" y="1600200"/>
            <a:ext cx="3456432" cy="4206240"/>
          </a:xfrm>
          <a:prstGeom prst="roundRect">
            <a:avLst>
              <a:gd name="adj" fmla="val 3175"/>
            </a:avLst>
          </a:prstGeom>
          <a:solidFill>
            <a:srgbClr val="F2F6F5"/>
          </a:solidFill>
          <a:ln/>
        </p:spPr>
      </p:sp>
      <p:sp>
        <p:nvSpPr>
          <p:cNvPr id="14" name="Shape 12"/>
          <p:cNvSpPr/>
          <p:nvPr/>
        </p:nvSpPr>
        <p:spPr>
          <a:xfrm>
            <a:off x="8357616" y="1874520"/>
            <a:ext cx="502920" cy="502920"/>
          </a:xfrm>
          <a:prstGeom prst="ellipse">
            <a:avLst/>
          </a:prstGeom>
          <a:solidFill>
            <a:srgbClr val="02C39A"/>
          </a:solidFill>
          <a:ln/>
        </p:spPr>
      </p:sp>
      <p:sp>
        <p:nvSpPr>
          <p:cNvPr id="15" name="Text 13"/>
          <p:cNvSpPr/>
          <p:nvPr/>
        </p:nvSpPr>
        <p:spPr>
          <a:xfrm>
            <a:off x="8357616" y="187452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Text 14"/>
          <p:cNvSpPr/>
          <p:nvPr/>
        </p:nvSpPr>
        <p:spPr>
          <a:xfrm>
            <a:off x="8357616" y="2560320"/>
            <a:ext cx="2907792" cy="777240"/>
          </a:xfrm>
          <a:prstGeom prst="rect">
            <a:avLst/>
          </a:prstGeom>
          <a:noFill/>
          <a:ln/>
        </p:spPr>
        <p:txBody>
          <a:bodyPr wrap="square" lIns="0" tIns="0" rIns="0" bIns="0" rtlCol="0" anchor="t"/>
          <a:lstStyle/>
          <a:p>
            <a:pPr indent="0" marL="0">
              <a:buNone/>
            </a:pPr>
            <a:r>
              <a:rPr lang="en-US" sz="1700" b="1" dirty="0">
                <a:solidFill>
                  <a:srgbClr val="2B2B2B"/>
                </a:solidFill>
                <a:latin typeface="Calibri" pitchFamily="34" charset="0"/>
                <a:ea typeface="Calibri" pitchFamily="34" charset="-122"/>
                <a:cs typeface="Calibri" pitchFamily="34" charset="-120"/>
              </a:rPr>
              <a:t>El tamaño casi no influye</a:t>
            </a:r>
            <a:endParaRPr lang="en-US" sz="1700" dirty="0"/>
          </a:p>
        </p:txBody>
      </p:sp>
      <p:sp>
        <p:nvSpPr>
          <p:cNvPr id="17" name="Text 15"/>
          <p:cNvSpPr/>
          <p:nvPr/>
        </p:nvSpPr>
        <p:spPr>
          <a:xfrm>
            <a:off x="8357616" y="3383280"/>
            <a:ext cx="2907792" cy="2194560"/>
          </a:xfrm>
          <a:prstGeom prst="rect">
            <a:avLst/>
          </a:prstGeom>
          <a:noFill/>
          <a:ln/>
        </p:spPr>
        <p:txBody>
          <a:bodyPr wrap="square" lIns="0" tIns="0" rIns="0" bIns="0" rtlCol="0" anchor="t"/>
          <a:lstStyle/>
          <a:p>
            <a:pPr indent="0" marL="0">
              <a:lnSpc>
                <a:spcPct val="120000"/>
              </a:lnSpc>
              <a:buNone/>
            </a:pPr>
            <a:r>
              <a:rPr lang="en-US" sz="1350" dirty="0">
                <a:solidFill>
                  <a:srgbClr val="5C6B6E"/>
                </a:solidFill>
                <a:latin typeface="Calibri" pitchFamily="34" charset="0"/>
                <a:ea typeface="Calibri" pitchFamily="34" charset="-122"/>
                <a:cs typeface="Calibri" pitchFamily="34" charset="-120"/>
              </a:rPr>
              <a:t>Correlación población–internet: r = 0.16. Ciudades pequeñas como Zipaquirá superan a Bogotá en penetración.</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3D3A"/>
        </a:solidFill>
      </p:bgPr>
    </p:bg>
    <p:spTree>
      <p:nvGrpSpPr>
        <p:cNvPr id="1" name=""/>
        <p:cNvGrpSpPr/>
        <p:nvPr/>
      </p:nvGrpSpPr>
      <p:grpSpPr>
        <a:xfrm>
          <a:off x="0" y="0"/>
          <a:ext cx="0" cy="0"/>
          <a:chOff x="0" y="0"/>
          <a:chExt cx="0" cy="0"/>
        </a:xfrm>
      </p:grpSpPr>
      <p:sp>
        <p:nvSpPr>
          <p:cNvPr id="2" name="Shape 0"/>
          <p:cNvSpPr/>
          <p:nvPr/>
        </p:nvSpPr>
        <p:spPr>
          <a:xfrm>
            <a:off x="-2011680" y="-2286000"/>
            <a:ext cx="5486400" cy="5486400"/>
          </a:xfrm>
          <a:prstGeom prst="ellipse">
            <a:avLst/>
          </a:prstGeom>
          <a:solidFill>
            <a:srgbClr val="02C39A">
              <a:alpha val="10000"/>
            </a:srgbClr>
          </a:solidFill>
          <a:ln/>
        </p:spPr>
      </p:sp>
      <p:sp>
        <p:nvSpPr>
          <p:cNvPr id="3" name="Text 1"/>
          <p:cNvSpPr/>
          <p:nvPr/>
        </p:nvSpPr>
        <p:spPr>
          <a:xfrm>
            <a:off x="822960" y="548640"/>
            <a:ext cx="10515600" cy="822960"/>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¿Qué le recomendamos a la empresa?</a:t>
            </a:r>
            <a:endParaRPr lang="en-US" sz="3000" dirty="0"/>
          </a:p>
        </p:txBody>
      </p:sp>
      <p:sp>
        <p:nvSpPr>
          <p:cNvPr id="4" name="Text 2"/>
          <p:cNvSpPr/>
          <p:nvPr/>
        </p:nvSpPr>
        <p:spPr>
          <a:xfrm>
            <a:off x="822960" y="1600200"/>
            <a:ext cx="5120640" cy="365760"/>
          </a:xfrm>
          <a:prstGeom prst="rect">
            <a:avLst/>
          </a:prstGeom>
          <a:noFill/>
          <a:ln/>
        </p:spPr>
        <p:txBody>
          <a:bodyPr wrap="square" lIns="0" tIns="0" rIns="0" bIns="0" rtlCol="0" anchor="ctr"/>
          <a:lstStyle/>
          <a:p>
            <a:pPr indent="0" marL="0">
              <a:buNone/>
            </a:pPr>
            <a:r>
              <a:rPr lang="en-US" sz="1400" b="1" spc="100" kern="0" dirty="0">
                <a:solidFill>
                  <a:srgbClr val="02C39A"/>
                </a:solidFill>
                <a:latin typeface="Calibri" pitchFamily="34" charset="0"/>
                <a:ea typeface="Calibri" pitchFamily="34" charset="-122"/>
                <a:cs typeface="Calibri" pitchFamily="34" charset="-120"/>
              </a:rPr>
              <a:t>PRIORIZAR AHORA</a:t>
            </a:r>
            <a:endParaRPr lang="en-US" sz="1400" dirty="0"/>
          </a:p>
        </p:txBody>
      </p:sp>
      <p:sp>
        <p:nvSpPr>
          <p:cNvPr id="5" name="Text 3"/>
          <p:cNvSpPr/>
          <p:nvPr/>
        </p:nvSpPr>
        <p:spPr>
          <a:xfrm>
            <a:off x="822960" y="2011680"/>
            <a:ext cx="5120640" cy="182880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450" b="1" dirty="0">
                <a:solidFill>
                  <a:srgbClr val="FFFFFF"/>
                </a:solidFill>
                <a:latin typeface="Calibri" pitchFamily="34" charset="0"/>
                <a:ea typeface="Calibri" pitchFamily="34" charset="-122"/>
                <a:cs typeface="Calibri" pitchFamily="34" charset="-120"/>
              </a:rPr>
              <a:t>Papelerías, peluquerías y sector salud</a:t>
            </a:r>
            <a:endParaRPr lang="en-US" sz="1450" dirty="0"/>
          </a:p>
          <a:p>
            <a:pPr indent="0" marL="0">
              <a:lnSpc>
                <a:spcPct val="120000"/>
              </a:lnSpc>
              <a:buNone/>
            </a:pPr>
            <a:r>
              <a:rPr lang="en-US" sz="1450" dirty="0">
                <a:solidFill>
                  <a:srgbClr val="B6C4C7"/>
                </a:solidFill>
                <a:latin typeface="Calibri" pitchFamily="34" charset="0"/>
                <a:ea typeface="Calibri" pitchFamily="34" charset="-122"/>
                <a:cs typeface="Calibri" pitchFamily="34" charset="-120"/>
              </a:rPr>
              <a:t>Ya tienen alta disposición digital (68%–79% de uso de internet): son el punto de entrada más rápido.</a:t>
            </a:r>
            <a:endParaRPr lang="en-US" sz="1450" dirty="0"/>
          </a:p>
        </p:txBody>
      </p:sp>
      <p:sp>
        <p:nvSpPr>
          <p:cNvPr id="6" name="Text 4"/>
          <p:cNvSpPr/>
          <p:nvPr/>
        </p:nvSpPr>
        <p:spPr>
          <a:xfrm>
            <a:off x="6263640" y="1600200"/>
            <a:ext cx="5120640" cy="365760"/>
          </a:xfrm>
          <a:prstGeom prst="rect">
            <a:avLst/>
          </a:prstGeom>
          <a:noFill/>
          <a:ln/>
        </p:spPr>
        <p:txBody>
          <a:bodyPr wrap="square" lIns="0" tIns="0" rIns="0" bIns="0" rtlCol="0" anchor="ctr"/>
          <a:lstStyle/>
          <a:p>
            <a:pPr indent="0" marL="0">
              <a:buNone/>
            </a:pPr>
            <a:r>
              <a:rPr lang="en-US" sz="1400" b="1" spc="100" kern="0" dirty="0">
                <a:solidFill>
                  <a:srgbClr val="E4572E"/>
                </a:solidFill>
                <a:latin typeface="Calibri" pitchFamily="34" charset="0"/>
                <a:ea typeface="Calibri" pitchFamily="34" charset="-122"/>
                <a:cs typeface="Calibri" pitchFamily="34" charset="-120"/>
              </a:rPr>
              <a:t>FORTALECER CON ACOMPAÑAMIENTO</a:t>
            </a:r>
            <a:endParaRPr lang="en-US" sz="1400" dirty="0"/>
          </a:p>
        </p:txBody>
      </p:sp>
      <p:sp>
        <p:nvSpPr>
          <p:cNvPr id="7" name="Text 5"/>
          <p:cNvSpPr/>
          <p:nvPr/>
        </p:nvSpPr>
        <p:spPr>
          <a:xfrm>
            <a:off x="6263640" y="2011680"/>
            <a:ext cx="5120640" cy="182880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450" b="1" dirty="0">
                <a:solidFill>
                  <a:srgbClr val="FFFFFF"/>
                </a:solidFill>
                <a:latin typeface="Calibri" pitchFamily="34" charset="0"/>
                <a:ea typeface="Calibri" pitchFamily="34" charset="-122"/>
                <a:cs typeface="Calibri" pitchFamily="34" charset="-120"/>
              </a:rPr>
              <a:t>Tiendas de barrio y comida preparada</a:t>
            </a:r>
            <a:endParaRPr lang="en-US" sz="1450" dirty="0"/>
          </a:p>
          <a:p>
            <a:pPr indent="0" marL="0">
              <a:lnSpc>
                <a:spcPct val="120000"/>
              </a:lnSpc>
              <a:buNone/>
            </a:pPr>
            <a:r>
              <a:rPr lang="en-US" sz="1450" dirty="0">
                <a:solidFill>
                  <a:srgbClr val="B6C4C7"/>
                </a:solidFill>
                <a:latin typeface="Calibri" pitchFamily="34" charset="0"/>
                <a:ea typeface="Calibri" pitchFamily="34" charset="-122"/>
                <a:cs typeface="Calibri" pitchFamily="34" charset="-120"/>
              </a:rPr>
              <a:t>Son el mercado más grande (431 negocios) y el más rezagado en uso de internet: mayor oportunidad de crecimiento.</a:t>
            </a:r>
            <a:endParaRPr lang="en-US" sz="1450" dirty="0"/>
          </a:p>
        </p:txBody>
      </p:sp>
      <p:sp>
        <p:nvSpPr>
          <p:cNvPr id="8" name="Shape 6"/>
          <p:cNvSpPr/>
          <p:nvPr/>
        </p:nvSpPr>
        <p:spPr>
          <a:xfrm>
            <a:off x="822960" y="4160520"/>
            <a:ext cx="10515600" cy="0"/>
          </a:xfrm>
          <a:prstGeom prst="line">
            <a:avLst/>
          </a:prstGeom>
          <a:noFill/>
          <a:ln w="12700">
            <a:solidFill>
              <a:srgbClr val="1E5C56"/>
            </a:solidFill>
            <a:prstDash val="solid"/>
          </a:ln>
        </p:spPr>
      </p:sp>
      <p:sp>
        <p:nvSpPr>
          <p:cNvPr id="9" name="Text 7"/>
          <p:cNvSpPr/>
          <p:nvPr/>
        </p:nvSpPr>
        <p:spPr>
          <a:xfrm>
            <a:off x="822960" y="4389120"/>
            <a:ext cx="10515600" cy="731520"/>
          </a:xfrm>
          <a:prstGeom prst="rect">
            <a:avLst/>
          </a:prstGeom>
          <a:noFill/>
          <a:ln/>
        </p:spPr>
        <p:txBody>
          <a:bodyPr wrap="square" lIns="0" tIns="0" rIns="0" bIns="0" rtlCol="0" anchor="ctr"/>
          <a:lstStyle/>
          <a:p>
            <a:pPr indent="0" marL="0">
              <a:buNone/>
            </a:pPr>
            <a:r>
              <a:rPr lang="en-US" sz="1250" i="1" dirty="0">
                <a:solidFill>
                  <a:srgbClr val="B6C4C7"/>
                </a:solidFill>
                <a:latin typeface="Calibri" pitchFamily="34" charset="0"/>
                <a:ea typeface="Calibri" pitchFamily="34" charset="-122"/>
                <a:cs typeface="Calibri" pitchFamily="34" charset="-120"/>
              </a:rPr>
              <a:t>Nota metodológica: algunas combinaciones de ciudad × actividad tienen muestras muy pequeñas (n &lt; 5). Antes de decidir inversión ciudad por ciudad, recomendamos ampliar la encuesta.</a:t>
            </a:r>
            <a:endParaRPr lang="en-US" sz="1250" dirty="0"/>
          </a:p>
        </p:txBody>
      </p:sp>
      <p:sp>
        <p:nvSpPr>
          <p:cNvPr id="10" name="Text 8"/>
          <p:cNvSpPr/>
          <p:nvPr/>
        </p:nvSpPr>
        <p:spPr>
          <a:xfrm>
            <a:off x="822960" y="5806440"/>
            <a:ext cx="5486400" cy="54864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¡Gracias!</a:t>
            </a:r>
            <a:endParaRPr lang="en-US" sz="2200" dirty="0"/>
          </a:p>
        </p:txBody>
      </p:sp>
      <p:sp>
        <p:nvSpPr>
          <p:cNvPr id="11" name="Text 9"/>
          <p:cNvSpPr/>
          <p:nvPr/>
        </p:nvSpPr>
        <p:spPr>
          <a:xfrm>
            <a:off x="822960" y="6355080"/>
            <a:ext cx="7315200" cy="365760"/>
          </a:xfrm>
          <a:prstGeom prst="rect">
            <a:avLst/>
          </a:prstGeom>
          <a:noFill/>
          <a:ln/>
        </p:spPr>
        <p:txBody>
          <a:bodyPr wrap="square" lIns="0" tIns="0" rIns="0" bIns="0" rtlCol="0" anchor="ctr"/>
          <a:lstStyle/>
          <a:p>
            <a:pPr indent="0" marL="0">
              <a:buNone/>
            </a:pPr>
            <a:r>
              <a:rPr lang="en-US" sz="1100" dirty="0">
                <a:solidFill>
                  <a:srgbClr val="B6C4C7"/>
                </a:solidFill>
                <a:latin typeface="Calibri" pitchFamily="34" charset="0"/>
                <a:ea typeface="Calibri" pitchFamily="34" charset="-122"/>
                <a:cs typeface="Calibri" pitchFamily="34" charset="-120"/>
              </a:rPr>
              <a:t>Holman Ospina · Emily Rodríguez · David Pascagaza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Penetracion de internet en tenderos colombianos</dc:title>
  <dc:subject>PptxGenJS Presentation</dc:subject>
  <dc:creator>Holman Ospina, Emily Rodriguez, David Pascagaza</dc:creator>
  <cp:lastModifiedBy>Holman Ospina, Emily Rodriguez, David Pascagaza</cp:lastModifiedBy>
  <cp:revision>1</cp:revision>
  <dcterms:created xsi:type="dcterms:W3CDTF">2026-08-24T00:34:45Z</dcterms:created>
  <dcterms:modified xsi:type="dcterms:W3CDTF">2026-08-24T00:34:45Z</dcterms:modified>
</cp:coreProperties>
</file>